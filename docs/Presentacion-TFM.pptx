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4D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ge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797538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mbria"/>
              </a:rPr>
              <a:t>Estudios Energía GE&amp;PE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4F4F5"/>
                </a:solidFill>
                <a:latin typeface="Calibri"/>
              </a:rPr>
              <a:t>Aplicación web para estudios comparativos de renovación de contratos eléctricos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4709160"/>
            <a:ext cx="128016" cy="128016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6177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Trabajo Fin de Máster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943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4F4F5"/>
                </a:solidFill>
                <a:latin typeface="Calibri"/>
              </a:rPr>
              <a:t>Noelia Librero Delgado · GE&amp;PE Ingeniería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4D4D4F"/>
                </a:solidFill>
                <a:latin typeface="Cambria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4D4D4F"/>
                </a:solidFill>
                <a:latin typeface="Calibri"/>
              </a:rPr>
              <a:t>Los estudios de renovación de suministros eléctricos se hacían en hojas de Excel enormes: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4D4D4F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4D4D4F"/>
                </a:solidFill>
                <a:latin typeface="Calibri"/>
              </a:rPr>
              <a:t>•  Un archivo distinto por cliente, difícil de mantener.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4D4D4F"/>
                </a:solidFill>
                <a:latin typeface="Calibri"/>
              </a:rPr>
              <a:t>•  Cálculo manual de peajes, cargos, IEE y servicios de ajuste (SSAA).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4D4D4F"/>
                </a:solidFill>
                <a:latin typeface="Calibri"/>
              </a:rPr>
              <a:t>•  Riesgo de error en cifras que acaban en una oferta al cliente.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4D4D4F"/>
                </a:solidFill>
                <a:latin typeface="Calibri"/>
              </a:rPr>
              <a:t>•  Sin histórico ni indicadores; cada estudio empieza de cero.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737360"/>
            <a:ext cx="4663440" cy="3566160"/>
          </a:xfrm>
          <a:prstGeom prst="roundRect">
            <a:avLst/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0" y="2103120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BE1E2D"/>
                </a:solidFill>
                <a:latin typeface="Cambria"/>
              </a:rPr>
              <a:t>Hasta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3200400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D4D4F"/>
                </a:solidFill>
                <a:latin typeface="Calibri"/>
              </a:rPr>
              <a:t>puntos de suministro (CUPS) por estudio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393192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cada uno con 12 meses de consumo por 6 periodos tarifarios y varias ofertas a comparar.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4D4D4F"/>
                </a:solidFill>
                <a:latin typeface="Cambria"/>
              </a:rPr>
              <a:t>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4D4D4F"/>
                </a:solidFill>
                <a:latin typeface="Calibri"/>
              </a:rPr>
              <a:t>Una aplicación web que centraliza los estudios, calcula la factura anual sin IVA y compara el contrato actual del cliente frente a las ofertas de las comercializadoras.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2606040" cy="3017520"/>
          </a:xfrm>
          <a:prstGeom prst="roundRect">
            <a:avLst/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3017520"/>
            <a:ext cx="502920" cy="502920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D4D4F"/>
                </a:solidFill>
                <a:latin typeface="Cambria"/>
              </a:rPr>
              <a:t>Expedientes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43400"/>
            <a:ext cx="2194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Un expediente por cliente, con sus CUPS, consumos y ofertas.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1" y="2743200"/>
            <a:ext cx="2606040" cy="3017520"/>
          </a:xfrm>
          <a:prstGeom prst="roundRect">
            <a:avLst/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39311" y="3017520"/>
            <a:ext cx="502920" cy="502920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1" y="379476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D4D4F"/>
                </a:solidFill>
                <a:latin typeface="Cambria"/>
              </a:rPr>
              <a:t>Cálculo exacto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1" y="4343400"/>
            <a:ext cx="2194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Motor que aplica parámetros regulados vigentes y SSAA.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743200"/>
            <a:ext cx="2606040" cy="3017520"/>
          </a:xfrm>
          <a:prstGeom prst="roundRect">
            <a:avLst/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9944" y="3017520"/>
            <a:ext cx="502920" cy="502920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379476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D4D4F"/>
                </a:solidFill>
                <a:latin typeface="Cambria"/>
              </a:rPr>
              <a:t>Comparativo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4343400"/>
            <a:ext cx="2194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Ranking de ofertas, ahorro y mejor opción de un vistazo.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743200"/>
            <a:ext cx="2606040" cy="3017520"/>
          </a:xfrm>
          <a:prstGeom prst="roundRect">
            <a:avLst/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80576" y="3017520"/>
            <a:ext cx="502920" cy="502920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379476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D4D4F"/>
                </a:solidFill>
                <a:latin typeface="Cambria"/>
              </a:rPr>
              <a:t>Informes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4343400"/>
            <a:ext cx="2194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Exportación a Excel y PDF con la identidad corporativa.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4D4D4F"/>
                </a:solidFill>
                <a:latin typeface="Cambria"/>
              </a:rPr>
              <a:t>Stack tecnológico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91640"/>
            <a:ext cx="3017520" cy="658368"/>
          </a:xfrm>
          <a:prstGeom prst="roundRect">
            <a:avLst/>
          </a:prstGeom>
          <a:solidFill>
            <a:srgbClr val="4D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2743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1691640"/>
            <a:ext cx="7589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D4D4F"/>
                </a:solidFill>
                <a:latin typeface="Calibri"/>
              </a:rPr>
              <a:t>Python 3.12 · Django 6.0 (ORM, plantillas, admin)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96312"/>
            <a:ext cx="3017520" cy="658368"/>
          </a:xfrm>
          <a:prstGeom prst="roundRect">
            <a:avLst/>
          </a:prstGeom>
          <a:solidFill>
            <a:srgbClr val="4D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96312"/>
            <a:ext cx="2743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Base de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496312"/>
            <a:ext cx="7589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D4D4F"/>
                </a:solidFill>
                <a:latin typeface="Calibri"/>
              </a:rPr>
              <a:t>SQLite (migrable a PostgreSQL sin tocar la aplicación)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00984"/>
            <a:ext cx="3017520" cy="658368"/>
          </a:xfrm>
          <a:prstGeom prst="roundRect">
            <a:avLst/>
          </a:prstGeom>
          <a:solidFill>
            <a:srgbClr val="4D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2743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Front-end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300984"/>
            <a:ext cx="7589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D4D4F"/>
                </a:solidFill>
                <a:latin typeface="Calibri"/>
              </a:rPr>
              <a:t>HTML + CSS propio (sistema de diseño con variables) · JS vanilla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05656"/>
            <a:ext cx="3017520" cy="658368"/>
          </a:xfrm>
          <a:prstGeom prst="roundRect">
            <a:avLst/>
          </a:prstGeom>
          <a:solidFill>
            <a:srgbClr val="4D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105656"/>
            <a:ext cx="2743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Informes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4105656"/>
            <a:ext cx="7589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D4D4F"/>
                </a:solidFill>
                <a:latin typeface="Calibri"/>
              </a:rPr>
              <a:t>openpyxl (Excel + gráficos) · xhtml2pdf + Pillow (PDF)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910328"/>
            <a:ext cx="3017520" cy="658368"/>
          </a:xfrm>
          <a:prstGeom prst="roundRect">
            <a:avLst/>
          </a:prstGeom>
          <a:solidFill>
            <a:srgbClr val="4D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910328"/>
            <a:ext cx="2743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Configuración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4910328"/>
            <a:ext cx="7589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D4D4F"/>
                </a:solidFill>
                <a:latin typeface="Calibri"/>
              </a:rPr>
              <a:t>python-decouple (.env) · WhiteNoise + Gunicorn en producción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715000"/>
            <a:ext cx="3017520" cy="658368"/>
          </a:xfrm>
          <a:prstGeom prst="roundRect">
            <a:avLst/>
          </a:prstGeom>
          <a:solidFill>
            <a:srgbClr val="4D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15000"/>
            <a:ext cx="2743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Calidad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5715000"/>
            <a:ext cx="7589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D4D4F"/>
                </a:solidFill>
                <a:latin typeface="Calibri"/>
              </a:rPr>
              <a:t>31 tests automáticos (framework de pruebas de Django)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4D4D4F"/>
                </a:solidFill>
                <a:latin typeface="Cambria"/>
              </a:rPr>
              <a:t>Funcionalidades principales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737360"/>
            <a:ext cx="457200" cy="457200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916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D4D4F"/>
                </a:solidFill>
                <a:latin typeface="Cambria"/>
              </a:rPr>
              <a:t>Importación Excel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1945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Plantilla Cliente/Suministros/Consumos, con validación de CUPS.</a:t>
            </a:r>
          </a:p>
        </p:txBody>
      </p:sp>
      <p:sp>
        <p:nvSpPr>
          <p:cNvPr id="7" name="Oval 6"/>
          <p:cNvSpPr/>
          <p:nvPr/>
        </p:nvSpPr>
        <p:spPr>
          <a:xfrm>
            <a:off x="6217920" y="1737360"/>
            <a:ext cx="457200" cy="457200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6916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D4D4F"/>
                </a:solidFill>
                <a:latin typeface="Cambria"/>
              </a:rPr>
              <a:t>Ofertas y precios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21945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Por tarifa o por CUPS; duración, GdO, gestor comercial.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2918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D4D4F"/>
                </a:solidFill>
                <a:latin typeface="Cambria"/>
              </a:rPr>
              <a:t>Servicios de ajuste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7947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SSAA con techo/banda/indexado, pérdidas y apuntamiento.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0" y="3337560"/>
            <a:ext cx="457200" cy="457200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918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D4D4F"/>
                </a:solidFill>
                <a:latin typeface="Cambria"/>
              </a:rPr>
              <a:t>Conceptos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7947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FNEE, GdO, regularización… con pérdidas e impuesto local.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937760"/>
            <a:ext cx="457200" cy="457200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8920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D4D4F"/>
                </a:solidFill>
                <a:latin typeface="Cambria"/>
              </a:rPr>
              <a:t>Catálogo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53949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Ofertas reutilizables entre expedientes.</a:t>
            </a:r>
          </a:p>
        </p:txBody>
      </p:sp>
      <p:sp>
        <p:nvSpPr>
          <p:cNvPr id="23" name="Oval 22"/>
          <p:cNvSpPr/>
          <p:nvPr/>
        </p:nvSpPr>
        <p:spPr>
          <a:xfrm>
            <a:off x="6217920" y="4937760"/>
            <a:ext cx="457200" cy="457200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498348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48920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D4D4F"/>
                </a:solidFill>
                <a:latin typeface="Cambria"/>
              </a:rPr>
              <a:t>Parámetros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53949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Carga masiva de peajes, cargos, IEE y SSAA por vigencia.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4D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El motor de cálculo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F4F4F5"/>
                </a:solidFill>
                <a:latin typeface="Calibri"/>
              </a:rPr>
              <a:t>El corazón de la aplicación: reproduce la factura eléctrica al céntimo a partir del consumo y de los parámetros regulados versionados por fecha de vigencia.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2606040" cy="2011680"/>
          </a:xfrm>
          <a:prstGeom prst="roundRect">
            <a:avLst/>
          </a:prstGeom>
          <a:solidFill>
            <a:srgbClr val="3C3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1089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Término de potencia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77639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4F4F5"/>
                </a:solidFill>
                <a:latin typeface="Calibri"/>
              </a:rPr>
              <a:t>según ATR o precio propio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834640"/>
            <a:ext cx="2606040" cy="2011680"/>
          </a:xfrm>
          <a:prstGeom prst="roundRect">
            <a:avLst/>
          </a:prstGeom>
          <a:solidFill>
            <a:srgbClr val="3C3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0752" y="31089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Término de energía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0752" y="3977639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4F4F5"/>
                </a:solidFill>
                <a:latin typeface="Calibri"/>
              </a:rPr>
              <a:t>peajes y cargos por periodo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3" y="2834640"/>
            <a:ext cx="2606040" cy="2011680"/>
          </a:xfrm>
          <a:prstGeom prst="roundRect">
            <a:avLst/>
          </a:prstGeom>
          <a:solidFill>
            <a:srgbClr val="3C3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3" y="31089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SSAA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1383" y="3977639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4F4F5"/>
                </a:solidFill>
                <a:latin typeface="Calibri"/>
              </a:rPr>
              <a:t>regularización por techo / banda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43415" y="2834640"/>
            <a:ext cx="2606040" cy="2011680"/>
          </a:xfrm>
          <a:prstGeom prst="roundRect">
            <a:avLst/>
          </a:prstGeom>
          <a:solidFill>
            <a:srgbClr val="3C3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72015" y="31089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IEE + conceptos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2015" y="3977639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4F4F5"/>
                </a:solidFill>
                <a:latin typeface="Calibri"/>
              </a:rPr>
              <a:t>impuesto especial y adicionales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12080"/>
            <a:ext cx="10744200" cy="960120"/>
          </a:xfrm>
          <a:prstGeom prst="roundRect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212080"/>
            <a:ext cx="10241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Verificado al céntimo contra un cálculo de referencia independiente (31 tests).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4D4D4F"/>
                </a:solidFill>
                <a:latin typeface="Cambria"/>
              </a:rPr>
              <a:t>Comparativo e informes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59" y="1280160"/>
            <a:ext cx="7406640" cy="6804956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_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315200" cy="67135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46304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D4D4F"/>
                </a:solidFill>
                <a:latin typeface="Calibri"/>
              </a:rPr>
              <a:t>Tabla comparativa con la mejor oferta destacada y el ahorro frente al contrato actual.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D4D4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D4D4F"/>
                </a:solidFill>
                <a:latin typeface="Calibri"/>
              </a:rPr>
              <a:t>Gráfico de coste anual: contrato actual en gris, mejor oferta en verde y el resto en tono suave.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D4D4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D4D4F"/>
                </a:solidFill>
                <a:latin typeface="Calibri"/>
              </a:rPr>
              <a:t>Exportable a Excel y PDF con logo, y con desglose por CUPS si es multipunto.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4D4D4F"/>
                </a:solidFill>
                <a:latin typeface="Cambria"/>
              </a:rPr>
              <a:t>Portada, indicadores y roles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59" y="1280160"/>
            <a:ext cx="7589519" cy="6475943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_ini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498079" cy="6384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20040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D4D4F"/>
                </a:solidFill>
                <a:latin typeface="Calibri"/>
              </a:rPr>
              <a:t>Panel de indicadores de carga instantánea: expedientes abiertos/cerrados, CUPS y ofertas.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D4D4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D4D4F"/>
                </a:solidFill>
                <a:latin typeface="Calibri"/>
              </a:rPr>
              <a:t>Filtros por ámbito, estado y cliente. Desglose por técnico para el administrador.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D4D4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D4D4F"/>
                </a:solidFill>
                <a:latin typeface="Calibri"/>
              </a:rPr>
              <a:t>Dos roles: administrador y técnico, con gestión de usuarios desde la propia app.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4D4D4F"/>
                </a:solidFill>
                <a:latin typeface="Cambria"/>
              </a:rPr>
              <a:t>Identidad corporativa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5212079" cy="3983126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ot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120640" cy="38916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554480"/>
            <a:ext cx="50292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4D4D4F"/>
                </a:solidFill>
                <a:latin typeface="Calibri"/>
              </a:rPr>
              <a:t>Sistema de diseño unificado bajo la marca GE&amp;PE: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4D4D4F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4D4D4F"/>
                </a:solidFill>
                <a:latin typeface="Calibri"/>
              </a:rPr>
              <a:t>•  Paleta corporativa (rojo #BE1E2D + gris #4D4D4F) en variables CSS.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4D4D4F"/>
                </a:solidFill>
                <a:latin typeface="Calibri"/>
              </a:rPr>
              <a:t>•  Tipografía, espaciado y componentes coherentes.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4D4D4F"/>
                </a:solidFill>
                <a:latin typeface="Calibri"/>
              </a:rPr>
              <a:t>•  Logo y favicon propios.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4D4D4F"/>
                </a:solidFill>
                <a:latin typeface="Calibri"/>
              </a:rPr>
              <a:t>•  Interfaz responsive (portátil, tablet y móvil).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4D4D4F"/>
                </a:solidFill>
                <a:latin typeface="Cambria"/>
              </a:rPr>
              <a:t>Calidad y fiabilidad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3566160" cy="2103120"/>
          </a:xfrm>
          <a:prstGeom prst="roundRect">
            <a:avLst/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400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600" b="1" i="0">
                <a:solidFill>
                  <a:srgbClr val="BE1E2D"/>
                </a:solidFill>
                <a:latin typeface="Cambria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315468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D4D4F"/>
                </a:solidFill>
                <a:latin typeface="Calibri"/>
              </a:rPr>
              <a:t>tests automáticos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2544" y="1828800"/>
            <a:ext cx="3566160" cy="2103120"/>
          </a:xfrm>
          <a:prstGeom prst="roundRect">
            <a:avLst/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35424" y="2057400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600" b="1" i="0">
                <a:solidFill>
                  <a:srgbClr val="BE1E2D"/>
                </a:solidFill>
                <a:latin typeface="Cambria"/>
              </a:rPr>
              <a:t>&lt; 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424" y="315468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D4D4F"/>
                </a:solidFill>
                <a:latin typeface="Calibri"/>
              </a:rPr>
              <a:t>objetivo de desviación vs. factura real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828800"/>
            <a:ext cx="3566160" cy="2103120"/>
          </a:xfrm>
          <a:prstGeom prst="roundRect">
            <a:avLst/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2057400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600" b="1" i="0">
                <a:solidFill>
                  <a:srgbClr val="BE1E2D"/>
                </a:solidFill>
                <a:latin typeface="Cambria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315468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D4D4F"/>
                </a:solidFill>
                <a:latin typeface="Calibri"/>
              </a:rPr>
              <a:t>parámetros versionados por vigencia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Calibri"/>
              </a:rPr>
              <a:t>Los tests comprueban el motor de cálculo al céntimo (línea base, conceptos con pérdidas, SSAA, agregado por CUPS, ranking) y la validación de CUPS, además del panel de indicadores y la gestión de usuarios.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4D4D4F"/>
                </a:solidFill>
                <a:latin typeface="Cambria"/>
              </a:rPr>
              <a:t>Despliegue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737360"/>
            <a:ext cx="548640" cy="548640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10512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7190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D4D4F"/>
                </a:solidFill>
                <a:latin typeface="Cambria"/>
              </a:rPr>
              <a:t>Código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9456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Repositorio en GitHub.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88920"/>
            <a:ext cx="548640" cy="548640"/>
          </a:xfrm>
          <a:prstGeom prst="ellipse">
            <a:avLst/>
          </a:prstGeom>
          <a:solidFill>
            <a:srgbClr val="4D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62072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706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D4D4F"/>
                </a:solidFill>
                <a:latin typeface="Cambria"/>
              </a:rPr>
              <a:t>Blueprint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461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render.yaml + build.sh (migrar, estáticos, datos demo).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0479"/>
            <a:ext cx="548640" cy="548640"/>
          </a:xfrm>
          <a:prstGeom prst="ellipse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13631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822191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D4D4F"/>
                </a:solidFill>
                <a:latin typeface="Cambria"/>
              </a:rPr>
              <a:t>Producción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97679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WhiteNoise + Gunicorn, HTTPS y SECRET_KEY segura.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892040"/>
            <a:ext cx="548640" cy="548640"/>
          </a:xfrm>
          <a:prstGeom prst="ellipse">
            <a:avLst/>
          </a:prstGeom>
          <a:solidFill>
            <a:srgbClr val="4D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965192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7375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D4D4F"/>
                </a:solidFill>
                <a:latin typeface="Cambria"/>
              </a:rPr>
              <a:t>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3492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Usuario de prueba listo para la evaluación.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4D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BE1E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ge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77240"/>
            <a:ext cx="1563077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mbria"/>
              </a:rPr>
              <a:t>Conclusiones y líneas futuras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91840"/>
            <a:ext cx="10424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F4F4F5"/>
                </a:solidFill>
                <a:latin typeface="Calibri"/>
              </a:rPr>
              <a:t>•  Estudios más rápidos, homogéneos y sin errores manuales.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F4F4F5"/>
                </a:solidFill>
                <a:latin typeface="Calibri"/>
              </a:rPr>
              <a:t>•  Cálculo verificado, informes corporativos y trazabilidad por expediente.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F4F4F5"/>
                </a:solidFill>
                <a:latin typeface="Calibri"/>
              </a:rPr>
              <a:t>•  Líneas futuras: precio indexado (OMIE/ESIOS), API Datadis, y despliegue en servidor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0350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Gracias.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